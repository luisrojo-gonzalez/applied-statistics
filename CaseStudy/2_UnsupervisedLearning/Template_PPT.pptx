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d6615acab834ea7" Type="http://schemas.openxmlformats.org/officeDocument/2006/relationships/officeDocument" Target="ppt/presentation.xml"/><Relationship Id="R80e9339cd47b4e4e" Type="http://schemas.openxmlformats.org/package/2006/relationships/metadata/core-properties" Target="docProps/core.xml"/><Relationship Id="Rb4f5975e41d1474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4fd89778e4447f"/>
  </p:sldMasterIdLst>
  <p:notesMasterIdLst>
    <p:notesMasterId xmlns:r="http://schemas.openxmlformats.org/officeDocument/2006/relationships" r:id="R065c8bf97b5245ba"/>
  </p:notesMasterIdLst>
  <p:sldIdLst>
    <p:sldId xmlns:r="http://schemas.openxmlformats.org/officeDocument/2006/relationships" id="256" r:id="Rb700989349924c0c"/>
    <p:sldId xmlns:r="http://schemas.openxmlformats.org/officeDocument/2006/relationships" id="257" r:id="Rd8938a4ebea34287"/>
    <p:sldId xmlns:r="http://schemas.openxmlformats.org/officeDocument/2006/relationships" id="258" r:id="Rcb37556417924672"/>
    <p:sldId xmlns:r="http://schemas.openxmlformats.org/officeDocument/2006/relationships" id="259" r:id="R780f87d8c9634872"/>
    <p:sldId xmlns:r="http://schemas.openxmlformats.org/officeDocument/2006/relationships" id="260" r:id="R549a24e548f24db2"/>
    <p:sldId xmlns:r="http://schemas.openxmlformats.org/officeDocument/2006/relationships" id="261" r:id="R65867238c1e34626"/>
    <p:sldId xmlns:r="http://schemas.openxmlformats.org/officeDocument/2006/relationships" id="262" r:id="Re98380d6aa304289"/>
    <p:sldId xmlns:r="http://schemas.openxmlformats.org/officeDocument/2006/relationships" id="263" r:id="Rd9120f89d73a4070"/>
    <p:sldId xmlns:r="http://schemas.openxmlformats.org/officeDocument/2006/relationships" id="264" r:id="R0878810da7eb4454"/>
    <p:sldId xmlns:r="http://schemas.openxmlformats.org/officeDocument/2006/relationships" id="265" r:id="Ra6f9370efcad46bf"/>
    <p:sldId xmlns:r="http://schemas.openxmlformats.org/officeDocument/2006/relationships" id="266" r:id="R7e175aed70134058"/>
    <p:sldId xmlns:r="http://schemas.openxmlformats.org/officeDocument/2006/relationships" id="267" r:id="Rea3f94821cb946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5c8bf97b5245ba" Type="http://schemas.openxmlformats.org/officeDocument/2006/relationships/notesMaster" Target="notesMasters/notesMaster1.xml"/><Relationship Id="R0878810da7eb4454" Type="http://schemas.openxmlformats.org/officeDocument/2006/relationships/slide" Target="slides/slide9.xml"/><Relationship Id="R104fd89778e4447f" Type="http://schemas.openxmlformats.org/officeDocument/2006/relationships/slideMaster" Target="slideMasters/slideMaster1.xml"/><Relationship Id="R178be352c2f342ca" Type="http://schemas.openxmlformats.org/officeDocument/2006/relationships/theme" Target="theme/theme1.xml"/><Relationship Id="R549a24e548f24db2" Type="http://schemas.openxmlformats.org/officeDocument/2006/relationships/slide" Target="slides/slide5.xml"/><Relationship Id="R65867238c1e34626" Type="http://schemas.openxmlformats.org/officeDocument/2006/relationships/slide" Target="slides/slide6.xml"/><Relationship Id="R780f87d8c9634872" Type="http://schemas.openxmlformats.org/officeDocument/2006/relationships/slide" Target="slides/slide4.xml"/><Relationship Id="R7e175aed70134058" Type="http://schemas.openxmlformats.org/officeDocument/2006/relationships/slide" Target="slides/slide11.xml"/><Relationship Id="R95a36dc1d7174266" Type="http://schemas.openxmlformats.org/officeDocument/2006/relationships/tableStyles" Target="tableStyles.xml"/><Relationship Id="Ra6f9370efcad46bf" Type="http://schemas.openxmlformats.org/officeDocument/2006/relationships/slide" Target="slides/slide10.xml"/><Relationship Id="Rb079cc6f3cf342b8" Type="http://schemas.openxmlformats.org/officeDocument/2006/relationships/presProps" Target="presProps.xml"/><Relationship Id="Rb700989349924c0c" Type="http://schemas.openxmlformats.org/officeDocument/2006/relationships/slide" Target="slides/slide1.xml"/><Relationship Id="Rcb37556417924672" Type="http://schemas.openxmlformats.org/officeDocument/2006/relationships/slide" Target="slides/slide3.xml"/><Relationship Id="Rd8938a4ebea34287" Type="http://schemas.openxmlformats.org/officeDocument/2006/relationships/slide" Target="slides/slide2.xml"/><Relationship Id="Rd9120f89d73a4070" Type="http://schemas.openxmlformats.org/officeDocument/2006/relationships/slide" Target="slides/slide8.xml"/><Relationship Id="Re98380d6aa304289" Type="http://schemas.openxmlformats.org/officeDocument/2006/relationships/slide" Target="slides/slide7.xml"/><Relationship Id="Rea3f94821cb9468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08fff07226fc4c0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6d1180bb3944c06" Type="http://schemas.openxmlformats.org/officeDocument/2006/relationships/slide" Target="../slides/slide1.xml"/><Relationship Id="R8cef9b051ec54b7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449006898b4414c" Type="http://schemas.openxmlformats.org/officeDocument/2006/relationships/slide" Target="../slides/slide2.xml"/><Relationship Id="R7361a80f7ad54e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0425fee9d404acd" Type="http://schemas.openxmlformats.org/officeDocument/2006/relationships/slide" Target="../slides/slide3.xml"/><Relationship Id="Ra930a2328f874f5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ab8c46155324a22" Type="http://schemas.openxmlformats.org/officeDocument/2006/relationships/notesMaster" Target="../notesMasters/notesMaster1.xml"/><Relationship Id="Rbe527e2c64f8427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cac6803c9904bf6" Type="http://schemas.openxmlformats.org/officeDocument/2006/relationships/slide" Target="../slides/slide5.xml"/><Relationship Id="Re44c5a39862f4d6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fc122f8997845da" Type="http://schemas.openxmlformats.org/officeDocument/2006/relationships/slide" Target="../slides/slide6.xml"/><Relationship Id="Rd80b96cee768488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dbee4736f0d4e0a" Type="http://schemas.openxmlformats.org/officeDocument/2006/relationships/slide" Target="../slides/slide7.xml"/><Relationship Id="R680389cb8e68409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403c4851e114cf7" Type="http://schemas.openxmlformats.org/officeDocument/2006/relationships/notesMaster" Target="../notesMasters/notesMaster1.xml"/><Relationship Id="R9445d1cdf4774bf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04cf4cbfb35490f" Type="http://schemas.openxmlformats.org/officeDocument/2006/relationships/notesMaster" Target="../notesMasters/notesMaster1.xml"/><Relationship Id="R8582ecd031a44a7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d53ac622cf4424d" Type="http://schemas.openxmlformats.org/officeDocument/2006/relationships/slide" Target="../slides/slide10.xml"/><Relationship Id="Rd5ea164abeed492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9c52649ea4a43ad" Type="http://schemas.openxmlformats.org/officeDocument/2006/relationships/slide" Target="../slides/slide11.xml"/><Relationship Id="Re56a38cf0e374be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d35f5187331e468d" Type="http://schemas.openxmlformats.org/officeDocument/2006/relationships/notesMaster" Target="../notesMasters/notesMaster1.xml"/><Relationship Id="Rdfb8c961386d4f40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a2fc8df42334df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5e6c41e625f411e" Type="http://schemas.openxmlformats.org/officeDocument/2006/relationships/slideLayout" Target="../slideLayouts/slideLayout1.xml"/><Relationship Id="Rcd3aa195225e471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6c41e625f41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0def36e04cc4075" Type="http://schemas.openxmlformats.org/officeDocument/2006/relationships/image" Target="../media/image.png"/><Relationship Id="R6345e01e5a454ec7" Type="http://schemas.openxmlformats.org/officeDocument/2006/relationships/notesSlide" Target="../notesSlides/notesSlide1.xml"/><Relationship Id="Rd4b81c3a2a704dd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060a634bf82438f" Type="http://schemas.openxmlformats.org/officeDocument/2006/relationships/image" Target="../media/image2.png"/><Relationship Id="R2a775237e7eb444c" Type="http://schemas.openxmlformats.org/officeDocument/2006/relationships/slideLayout" Target="../slideLayouts/slideLayout1.xml"/><Relationship Id="Re590a95f15b547d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1880e57f8f64cf6" Type="http://schemas.openxmlformats.org/officeDocument/2006/relationships/slideLayout" Target="../slideLayouts/slideLayout1.xml"/><Relationship Id="Rd5cdac66c8ad4606" Type="http://schemas.openxmlformats.org/officeDocument/2006/relationships/notesSlide" Target="../notesSlides/notesSlide3.xml"/><Relationship Id="Rdc276ec86194408a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3947bd92d0de4cd0" Type="http://schemas.openxmlformats.org/officeDocument/2006/relationships/notesSlide" Target="../notesSlides/notesSlide4.xml"/><Relationship Id="R628df4fd9bf14064" Type="http://schemas.openxmlformats.org/officeDocument/2006/relationships/slideLayout" Target="../slideLayouts/slideLayout1.xml"/><Relationship Id="R90dd392d7f0241af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4de8ef0024504e81" Type="http://schemas.openxmlformats.org/officeDocument/2006/relationships/image" Target="../media/image5.png"/><Relationship Id="R51d3e559f5eb4d81" Type="http://schemas.openxmlformats.org/officeDocument/2006/relationships/notesSlide" Target="../notesSlides/notesSlide5.xml"/><Relationship Id="Ra8fd7b2bf59f45a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e01f6d172214a9b" Type="http://schemas.openxmlformats.org/officeDocument/2006/relationships/slideLayout" Target="../slideLayouts/slideLayout1.xml"/><Relationship Id="R4a23d18c3d4e4b39" Type="http://schemas.openxmlformats.org/officeDocument/2006/relationships/image" Target="../media/image6.png"/><Relationship Id="R8b6b0d1f393241b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c94b51bede44bbd" Type="http://schemas.openxmlformats.org/officeDocument/2006/relationships/notesSlide" Target="../notesSlides/notesSlide7.xml"/><Relationship Id="R3ee424df115341c9" Type="http://schemas.openxmlformats.org/officeDocument/2006/relationships/image" Target="../media/image7.png"/><Relationship Id="R5e775ec50e964e0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263d5dd1f534541" Type="http://schemas.openxmlformats.org/officeDocument/2006/relationships/image" Target="../media/image8.png"/><Relationship Id="R90553a9247f14e4b" Type="http://schemas.openxmlformats.org/officeDocument/2006/relationships/notesSlide" Target="../notesSlides/notesSlide8.xml"/><Relationship Id="Rbcb05268b71e4b6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940bf381c33418c" Type="http://schemas.openxmlformats.org/officeDocument/2006/relationships/notesSlide" Target="../notesSlides/notesSlide9.xml"/><Relationship Id="Rf3086dce395b453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9cfeed145a0418f" Type="http://schemas.openxmlformats.org/officeDocument/2006/relationships/slideLayout" Target="../slideLayouts/slideLayout1.xml"/><Relationship Id="R3c76e2ed6e6d49a1" Type="http://schemas.openxmlformats.org/officeDocument/2006/relationships/notesSlide" Target="../notesSlides/notesSlide10.xml"/><Relationship Id="Rdc38b40b01814798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3a5d8de3ef4d4cd9" Type="http://schemas.openxmlformats.org/officeDocument/2006/relationships/notesSlide" Target="../notesSlides/notesSlide11.xml"/><Relationship Id="Rb2a183d664234d7d" Type="http://schemas.openxmlformats.org/officeDocument/2006/relationships/slideLayout" Target="../slideLayouts/slideLayout1.xml"/><Relationship Id="Rdc75b98d402745c0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22c491530f654f3b" Type="http://schemas.openxmlformats.org/officeDocument/2006/relationships/image" Target="../media/image11.png"/><Relationship Id="R4555d4032a5d442f" Type="http://schemas.openxmlformats.org/officeDocument/2006/relationships/notesSlide" Target="../notesSlides/notesSlide12.xml"/><Relationship Id="R50affb8667544a0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ef36e04cc4075"/>
          <a:srcRect xmlns:a="http://schemas.openxmlformats.org/drawingml/2006/main" l="0" t="46" r="0" b="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E165C6-6EBF-44BF-8620-C659800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PROYECTO INTEGRADOR</a:t>
            </a:r>
          </a:p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CLASIFICACIÓN NO SUPERVISADA</a:t>
            </a:r>
          </a:p>
        </p:txBody>
      </p:sp>
      <p:sp>
        <p:nvSpPr>
          <p:cNvPr id="3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AD7A0E01-6B47-4776-B2A5-85AEF70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</a:defRPr>
            </a:pPr>
            <a:r>
              <a:rPr sz="1800" b="1">
                <a:solidFill>
                  <a:srgbClr val="00A6A6"/>
                </a:solidFill>
              </a:rPr>
              <a:t>[Título específico del proyecto]</a:t>
            </a:r>
          </a:p>
        </p:txBody>
      </p:sp>
      <p:sp>
        <p:nvSpPr>
          <p:cNvPr id="4" name="cover-team">
            <a:extLst xmlns:a="http://schemas.openxmlformats.org/drawingml/2006/main">
              <a:ext uri="{FF2B5EF4-FFF2-40B4-BE49-F238E27FC236}">
                <a16:creationId xmlns:a16="http://schemas.microsoft.com/office/drawing/2014/main" id="{9B87C78F-D366-4742-A4B0-6D5BFFA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481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546A"/>
                </a:solidFill>
              </a:defRPr>
            </a:pPr>
            <a:r>
              <a:rPr sz="1350">
                <a:solidFill>
                  <a:srgbClr val="44546A"/>
                </a:solidFill>
              </a:rPr>
              <a:t>[Integrantes del equipo]</a:t>
            </a:r>
          </a:p>
          <a:p xmlns:a="http://schemas.openxmlformats.org/drawingml/2006/main">
            <a:pPr>
              <a:defRPr sz="1350">
                <a:solidFill>
                  <a:srgbClr val="44546A"/>
                </a:solidFill>
              </a:defRPr>
            </a:pPr>
            <a:r>
              <a:rPr sz="1350">
                <a:solidFill>
                  <a:srgbClr val="44546A"/>
                </a:solidFill>
              </a:rPr>
              <a:t>Estadística Aplicada · Ingeniería Industrial</a:t>
            </a:r>
          </a:p>
        </p:txBody>
      </p:sp>
      <p:sp>
        <p:nvSpPr>
          <p:cNvPr id="5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63646FA1-89AC-49F7-A943-3D4C0BC9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10 min de exposición   |   10 min de preguntas</a:t>
            </a:r>
          </a:p>
        </p:txBody>
      </p:sp>
    </p:spTree>
    <p:extLst>
      <p:ext uri="{BB962C8B-B14F-4D97-AF65-F5344CB8AC3E}">
        <p14:creationId xmlns:p14="http://schemas.microsoft.com/office/powerpoint/2010/main" val="705310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0a634bf8243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F0A56A70-284F-4F16-BFA1-893804F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1. El problema conduce a una decisión</a:t>
            </a:r>
          </a:p>
        </p:txBody>
      </p:sp>
      <p:sp>
        <p:nvSpPr>
          <p:cNvPr id="3" name="s1-takeaway">
            <a:extLst xmlns:a="http://schemas.openxmlformats.org/drawingml/2006/main">
              <a:ext uri="{FF2B5EF4-FFF2-40B4-BE49-F238E27FC236}">
                <a16:creationId xmlns:a16="http://schemas.microsoft.com/office/drawing/2014/main" id="{E99AA7D9-411C-4940-8AD5-254541E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Para qué sirve la segmentación y qué error se evita.</a:t>
            </a:r>
          </a:p>
        </p:txBody>
      </p:sp>
      <p:sp>
        <p:nvSpPr>
          <p:cNvPr id="4" name="s1-left-head">
            <a:extLst xmlns:a="http://schemas.openxmlformats.org/drawingml/2006/main">
              <a:ext uri="{FF2B5EF4-FFF2-40B4-BE49-F238E27FC236}">
                <a16:creationId xmlns:a16="http://schemas.microsoft.com/office/drawing/2014/main" id="{93DB38C4-3969-4BB7-AB19-D0FEF1A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Problema y usuario</a:t>
            </a:r>
          </a:p>
        </p:txBody>
      </p:sp>
      <p:sp>
        <p:nvSpPr>
          <p:cNvPr id="5" name="s1-left-body">
            <a:extLst xmlns:a="http://schemas.openxmlformats.org/drawingml/2006/main">
              <a:ext uri="{FF2B5EF4-FFF2-40B4-BE49-F238E27FC236}">
                <a16:creationId xmlns:a16="http://schemas.microsoft.com/office/drawing/2014/main" id="{7B68CB8C-2C3B-4A2D-8C82-9C410350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Contexto y relevancia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Usuario y decisión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Uso de la segmentación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Unidad de observación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 objetivo</a:t>
            </a:r>
          </a:p>
        </p:txBody>
      </p:sp>
      <p:sp>
        <p:nvSpPr>
          <p:cNvPr id="6" name="s1-right-head">
            <a:extLst xmlns:a="http://schemas.openxmlformats.org/drawingml/2006/main">
              <a:ext uri="{FF2B5EF4-FFF2-40B4-BE49-F238E27FC236}">
                <a16:creationId xmlns:a16="http://schemas.microsoft.com/office/drawing/2014/main" id="{02498C8D-2CF7-4B6A-919E-2F3BCF81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Naturaleza del problema</a:t>
            </a:r>
          </a:p>
        </p:txBody>
      </p:sp>
      <p:sp>
        <p:nvSpPr>
          <p:cNvPr id="7" name="s1-right-body">
            <a:extLst xmlns:a="http://schemas.openxmlformats.org/drawingml/2006/main">
              <a:ext uri="{FF2B5EF4-FFF2-40B4-BE49-F238E27FC236}">
                <a16:creationId xmlns:a16="http://schemas.microsoft.com/office/drawing/2014/main" id="{D7DAC776-704E-48E5-9CAB-1E37031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Sin etiqueta objetivo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Qué es un grupo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Costo de mala segmentación</a:t>
            </a:r>
          </a:p>
        </p:txBody>
      </p:sp>
    </p:spTree>
    <p:extLst>
      <p:ext uri="{BB962C8B-B14F-4D97-AF65-F5344CB8AC3E}">
        <p14:creationId xmlns:p14="http://schemas.microsoft.com/office/powerpoint/2010/main" val="20606207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76ec8619440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1E683EE9-3C31-4F4C-9D1D-C2D0C7D4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2. El dataset debe ser pertinente</a:t>
            </a:r>
          </a:p>
        </p:txBody>
      </p:sp>
      <p:sp>
        <p:nvSpPr>
          <p:cNvPr id="3" name="s2-takeaway">
            <a:extLst xmlns:a="http://schemas.openxmlformats.org/drawingml/2006/main">
              <a:ext uri="{FF2B5EF4-FFF2-40B4-BE49-F238E27FC236}">
                <a16:creationId xmlns:a16="http://schemas.microsoft.com/office/drawing/2014/main" id="{70DB3C7A-AF59-4095-BB60-EC74B413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La elección se justifica por la decisión, no por disponibilidad.</a:t>
            </a:r>
          </a:p>
        </p:txBody>
      </p:sp>
      <p:sp>
        <p:nvSpPr>
          <p:cNvPr id="4" name="s2-left-head">
            <a:extLst xmlns:a="http://schemas.openxmlformats.org/drawingml/2006/main">
              <a:ext uri="{FF2B5EF4-FFF2-40B4-BE49-F238E27FC236}">
                <a16:creationId xmlns:a16="http://schemas.microsoft.com/office/drawing/2014/main" id="{1AF4A7C4-C187-48AB-974C-335D7A8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Fuente</a:t>
            </a:r>
          </a:p>
        </p:txBody>
      </p:sp>
      <p:sp>
        <p:nvSpPr>
          <p:cNvPr id="5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A92BF89B-972E-4E6E-BC17-FD1B0D78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Fuente y licencia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Período y tamaño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</a:t>
            </a:r>
          </a:p>
        </p:txBody>
      </p:sp>
      <p:sp>
        <p:nvSpPr>
          <p:cNvPr id="6" name="s2-right-head">
            <a:extLst xmlns:a="http://schemas.openxmlformats.org/drawingml/2006/main">
              <a:ext uri="{FF2B5EF4-FFF2-40B4-BE49-F238E27FC236}">
                <a16:creationId xmlns:a16="http://schemas.microsoft.com/office/drawing/2014/main" id="{820C8D48-0252-4B84-B7F0-C00D5B4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Pertinencia</a:t>
            </a:r>
          </a:p>
        </p:txBody>
      </p:sp>
      <p:sp>
        <p:nvSpPr>
          <p:cNvPr id="7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C265E13E-7493-40EF-9800-65FCB000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Variables y tipos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Escala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Alternativa descartada</a:t>
            </a:r>
          </a:p>
        </p:txBody>
      </p:sp>
    </p:spTree>
    <p:extLst>
      <p:ext uri="{BB962C8B-B14F-4D97-AF65-F5344CB8AC3E}">
        <p14:creationId xmlns:p14="http://schemas.microsoft.com/office/powerpoint/2010/main" val="19421906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d392d7f0241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54F89B67-EB80-4B62-AA56-E2353049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3. EDA y distancia</a:t>
            </a:r>
          </a:p>
        </p:txBody>
      </p:sp>
      <p:sp>
        <p:nvSpPr>
          <p:cNvPr id="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78DBA311-C28A-41A4-BD83-147573D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La distancia y la tendencia se deciden antes del algoritmo.</a:t>
            </a:r>
          </a:p>
        </p:txBody>
      </p:sp>
      <p:sp>
        <p:nvSpPr>
          <p:cNvPr id="4" name="s3-left-head">
            <a:extLst xmlns:a="http://schemas.openxmlformats.org/drawingml/2006/main">
              <a:ext uri="{FF2B5EF4-FFF2-40B4-BE49-F238E27FC236}">
                <a16:creationId xmlns:a16="http://schemas.microsoft.com/office/drawing/2014/main" id="{69EB1B10-2C89-49EB-97F4-16C4F82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Calidad y escala</a:t>
            </a:r>
          </a:p>
        </p:txBody>
      </p:sp>
      <p:sp>
        <p:nvSpPr>
          <p:cNvPr id="5" name="s3-left-body">
            <a:extLst xmlns:a="http://schemas.openxmlformats.org/drawingml/2006/main">
              <a:ext uri="{FF2B5EF4-FFF2-40B4-BE49-F238E27FC236}">
                <a16:creationId xmlns:a16="http://schemas.microsoft.com/office/drawing/2014/main" id="{1DD1D708-A2A0-4FBD-B485-DEBDA25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Outliers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Colinealidad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Escalas dominantes</a:t>
            </a:r>
          </a:p>
        </p:txBody>
      </p:sp>
      <p:sp>
        <p:nvSpPr>
          <p:cNvPr id="6" name="s3-right-head">
            <a:extLst xmlns:a="http://schemas.openxmlformats.org/drawingml/2006/main">
              <a:ext uri="{FF2B5EF4-FFF2-40B4-BE49-F238E27FC236}">
                <a16:creationId xmlns:a16="http://schemas.microsoft.com/office/drawing/2014/main" id="{DAF32485-2ACE-4498-ABAE-624B49EE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Distancia y Hopkins</a:t>
            </a:r>
          </a:p>
        </p:txBody>
      </p:sp>
      <p:sp>
        <p:nvSpPr>
          <p:cNvPr id="7" name="s3-right-body">
            <a:extLst xmlns:a="http://schemas.openxmlformats.org/drawingml/2006/main">
              <a:ext uri="{FF2B5EF4-FFF2-40B4-BE49-F238E27FC236}">
                <a16:creationId xmlns:a16="http://schemas.microsoft.com/office/drawing/2014/main" id="{E9B4471D-9A3D-4CAF-83EA-1C56E9F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Distancia justificada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Test de Hopkins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Tendencia al agrupamiento</a:t>
            </a:r>
          </a:p>
        </p:txBody>
      </p:sp>
    </p:spTree>
    <p:extLst>
      <p:ext uri="{BB962C8B-B14F-4D97-AF65-F5344CB8AC3E}">
        <p14:creationId xmlns:p14="http://schemas.microsoft.com/office/powerpoint/2010/main" val="4748826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8ef0024504e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DD950B3A-10E3-4D3E-9F0D-036716C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4. Sin una “verdad” observable</a:t>
            </a:r>
          </a:p>
        </p:txBody>
      </p:sp>
      <p:sp>
        <p:nvSpPr>
          <p:cNvPr id="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114BCB9B-6724-4821-8F34-8B2F99D2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Misma distancia en todo; criterios explícitos.</a:t>
            </a:r>
          </a:p>
        </p:txBody>
      </p:sp>
      <p:sp>
        <p:nvSpPr>
          <p:cNvPr id="4" name="s4-left-head">
            <a:extLst xmlns:a="http://schemas.openxmlformats.org/drawingml/2006/main">
              <a:ext uri="{FF2B5EF4-FFF2-40B4-BE49-F238E27FC236}">
                <a16:creationId xmlns:a16="http://schemas.microsoft.com/office/drawing/2014/main" id="{2E0CED65-52FE-4482-88F1-542AC35C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Preparación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1AB7B3C9-AC6D-4275-BF50-0F41396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Estandarización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Misma distancia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Semillas</a:t>
            </a:r>
          </a:p>
        </p:txBody>
      </p:sp>
      <p:sp>
        <p:nvSpPr>
          <p:cNvPr id="6" name="s4-right-head">
            <a:extLst xmlns:a="http://schemas.openxmlformats.org/drawingml/2006/main">
              <a:ext uri="{FF2B5EF4-FFF2-40B4-BE49-F238E27FC236}">
                <a16:creationId xmlns:a16="http://schemas.microsoft.com/office/drawing/2014/main" id="{D1AF2661-32FB-4D86-97BA-28CF026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Selección</a:t>
            </a:r>
          </a:p>
        </p:txBody>
      </p:sp>
      <p:sp>
        <p:nvSpPr>
          <p:cNvPr id="7" name="s4-right-body">
            <a:extLst xmlns:a="http://schemas.openxmlformats.org/drawingml/2006/main">
              <a:ext uri="{FF2B5EF4-FFF2-40B4-BE49-F238E27FC236}">
                <a16:creationId xmlns:a16="http://schemas.microsoft.com/office/drawing/2014/main" id="{677C5162-1973-49CB-94C4-62AA9C8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Criterios para K/parámetros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Sin elegir por un solo índice</a:t>
            </a:r>
          </a:p>
        </p:txBody>
      </p:sp>
    </p:spTree>
    <p:extLst>
      <p:ext uri="{BB962C8B-B14F-4D97-AF65-F5344CB8AC3E}">
        <p14:creationId xmlns:p14="http://schemas.microsoft.com/office/powerpoint/2010/main" val="19168461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3d18c3d4e4b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297B9301-4E50-4CC3-9865-6064C10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5. Compare familias distintas</a:t>
            </a:r>
          </a:p>
        </p:txBody>
      </p:sp>
      <p:sp>
        <p:nvSpPr>
          <p:cNvPr id="3" name="s5-takeaway">
            <a:extLst xmlns:a="http://schemas.openxmlformats.org/drawingml/2006/main">
              <a:ext uri="{FF2B5EF4-FFF2-40B4-BE49-F238E27FC236}">
                <a16:creationId xmlns:a16="http://schemas.microsoft.com/office/drawing/2014/main" id="{8900F86B-F87A-48B9-A0A4-10A9CE93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Cada familia supone una forma de los grupos.</a:t>
            </a:r>
          </a:p>
        </p:txBody>
      </p:sp>
      <p:sp>
        <p:nvSpPr>
          <p:cNvPr id="4" name="s5-left-head">
            <a:extLst xmlns:a="http://schemas.openxmlformats.org/drawingml/2006/main">
              <a:ext uri="{FF2B5EF4-FFF2-40B4-BE49-F238E27FC236}">
                <a16:creationId xmlns:a16="http://schemas.microsoft.com/office/drawing/2014/main" id="{EFAEB6B7-EA44-465B-9E1A-F40FA8EF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Particional y densidad</a:t>
            </a:r>
          </a:p>
        </p:txBody>
      </p:sp>
      <p:sp>
        <p:nvSpPr>
          <p:cNvPr id="5" name="s5-left-body">
            <a:extLst xmlns:a="http://schemas.openxmlformats.org/drawingml/2006/main">
              <a:ext uri="{FF2B5EF4-FFF2-40B4-BE49-F238E27FC236}">
                <a16:creationId xmlns:a16="http://schemas.microsoft.com/office/drawing/2014/main" id="{00D15F11-F703-42A9-9B19-C904F55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K-means y PAM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DBSCAN y HDBSCAN</a:t>
            </a:r>
          </a:p>
        </p:txBody>
      </p:sp>
      <p:sp>
        <p:nvSpPr>
          <p:cNvPr id="6" name="s5-right-head">
            <a:extLst xmlns:a="http://schemas.openxmlformats.org/drawingml/2006/main">
              <a:ext uri="{FF2B5EF4-FFF2-40B4-BE49-F238E27FC236}">
                <a16:creationId xmlns:a16="http://schemas.microsoft.com/office/drawing/2014/main" id="{14A61248-39B8-47F1-8037-8033E168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Soft y jerárquico</a:t>
            </a:r>
          </a:p>
        </p:txBody>
      </p:sp>
      <p:sp>
        <p:nvSpPr>
          <p:cNvPr id="7" name="s5-right-body">
            <a:extLst xmlns:a="http://schemas.openxmlformats.org/drawingml/2006/main">
              <a:ext uri="{FF2B5EF4-FFF2-40B4-BE49-F238E27FC236}">
                <a16:creationId xmlns:a16="http://schemas.microsoft.com/office/drawing/2014/main" id="{B0EA8166-7C38-48C0-A8CB-C7EDFA1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GMM (EM, BIC)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Linkages y dendrograma</a:t>
            </a:r>
          </a:p>
        </p:txBody>
      </p:sp>
    </p:spTree>
    <p:extLst>
      <p:ext uri="{BB962C8B-B14F-4D97-AF65-F5344CB8AC3E}">
        <p14:creationId xmlns:p14="http://schemas.microsoft.com/office/powerpoint/2010/main" val="17593177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424df115341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DB245F3A-761F-4FB8-9A24-B8CB20B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6. Validar sin etiquetas</a:t>
            </a:r>
          </a:p>
        </p:txBody>
      </p:sp>
      <p:sp>
        <p:nvSpPr>
          <p:cNvPr id="3" name="s6-takeaway">
            <a:extLst xmlns:a="http://schemas.openxmlformats.org/drawingml/2006/main">
              <a:ext uri="{FF2B5EF4-FFF2-40B4-BE49-F238E27FC236}">
                <a16:creationId xmlns:a16="http://schemas.microsoft.com/office/drawing/2014/main" id="{56969B66-48B8-4DA6-A0DF-84A3184A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Índices internos y estabilidad, no “se ve bonito”.</a:t>
            </a:r>
          </a:p>
        </p:txBody>
      </p:sp>
      <p:sp>
        <p:nvSpPr>
          <p:cNvPr id="4" name="s6-left-head">
            <a:extLst xmlns:a="http://schemas.openxmlformats.org/drawingml/2006/main">
              <a:ext uri="{FF2B5EF4-FFF2-40B4-BE49-F238E27FC236}">
                <a16:creationId xmlns:a16="http://schemas.microsoft.com/office/drawing/2014/main" id="{F41C64F2-139A-4A59-A5E8-16A5D6C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Índices internos</a:t>
            </a:r>
          </a:p>
        </p:txBody>
      </p:sp>
      <p:sp>
        <p:nvSpPr>
          <p:cNvPr id="5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2462F222-5A31-466C-9F7C-4666A6B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Silhouette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Calinski-Harabasz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Davies-Bouldin</a:t>
            </a:r>
          </a:p>
        </p:txBody>
      </p:sp>
      <p:sp>
        <p:nvSpPr>
          <p:cNvPr id="6" name="s6-right-head">
            <a:extLst xmlns:a="http://schemas.openxmlformats.org/drawingml/2006/main">
              <a:ext uri="{FF2B5EF4-FFF2-40B4-BE49-F238E27FC236}">
                <a16:creationId xmlns:a16="http://schemas.microsoft.com/office/drawing/2014/main" id="{BAA21E3A-FB04-4368-B9BF-C988515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Estabilidad</a:t>
            </a:r>
          </a:p>
        </p:txBody>
      </p:sp>
      <p:sp>
        <p:nvSpPr>
          <p:cNvPr id="7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74E69CC7-9E78-49DB-B227-ECDCEC6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Rand/ARI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NMI y VI</a:t>
            </a:r>
          </a:p>
        </p:txBody>
      </p:sp>
    </p:spTree>
    <p:extLst>
      <p:ext uri="{BB962C8B-B14F-4D97-AF65-F5344CB8AC3E}">
        <p14:creationId xmlns:p14="http://schemas.microsoft.com/office/powerpoint/2010/main" val="13174411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3d5dd1f5345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D0F9232A-9FF1-4FC3-8824-9B981C4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7. Estructura seleccionada</a:t>
            </a:r>
          </a:p>
        </p:txBody>
      </p:sp>
      <p:sp>
        <p:nvSpPr>
          <p:cNvPr id="3" name="s7-takeaway">
            <a:extLst xmlns:a="http://schemas.openxmlformats.org/drawingml/2006/main">
              <a:ext uri="{FF2B5EF4-FFF2-40B4-BE49-F238E27FC236}">
                <a16:creationId xmlns:a16="http://schemas.microsoft.com/office/drawing/2014/main" id="{F924E573-9434-4F12-96DF-BF111EA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Método y estructura congelados.</a:t>
            </a:r>
          </a:p>
        </p:txBody>
      </p:sp>
      <p:sp>
        <p:nvSpPr>
          <p:cNvPr id="4" name="s7-left-head">
            <a:extLst xmlns:a="http://schemas.openxmlformats.org/drawingml/2006/main">
              <a:ext uri="{FF2B5EF4-FFF2-40B4-BE49-F238E27FC236}">
                <a16:creationId xmlns:a16="http://schemas.microsoft.com/office/drawing/2014/main" id="{65B6AC60-D065-4065-B870-9C369AF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Estructura</a:t>
            </a:r>
          </a:p>
        </p:txBody>
      </p:sp>
      <p:sp>
        <p:nvSpPr>
          <p:cNvPr id="5" name="s7-left-body">
            <a:extLst xmlns:a="http://schemas.openxmlformats.org/drawingml/2006/main">
              <a:ext uri="{FF2B5EF4-FFF2-40B4-BE49-F238E27FC236}">
                <a16:creationId xmlns:a16="http://schemas.microsoft.com/office/drawing/2014/main" id="{7472B977-5721-4251-AB33-83DD5C8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Método y K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Tamaños y ruido</a:t>
            </a:r>
          </a:p>
        </p:txBody>
      </p:sp>
      <p:sp>
        <p:nvSpPr>
          <p:cNvPr id="6" name="s7-right-head">
            <a:extLst xmlns:a="http://schemas.openxmlformats.org/drawingml/2006/main">
              <a:ext uri="{FF2B5EF4-FFF2-40B4-BE49-F238E27FC236}">
                <a16:creationId xmlns:a16="http://schemas.microsoft.com/office/drawing/2014/main" id="{C81C2852-4B8A-4574-B529-9E6A579F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Validación externa</a:t>
            </a:r>
          </a:p>
        </p:txBody>
      </p:sp>
      <p:sp>
        <p:nvSpPr>
          <p:cNvPr id="7" name="s7-right-body">
            <a:extLst xmlns:a="http://schemas.openxmlformats.org/drawingml/2006/main">
              <a:ext uri="{FF2B5EF4-FFF2-40B4-BE49-F238E27FC236}">
                <a16:creationId xmlns:a16="http://schemas.microsoft.com/office/drawing/2014/main" id="{A0893FFA-19E4-445A-BA7D-BC663534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Si existe etiqueta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ARI/NMI como contraste</a:t>
            </a:r>
          </a:p>
        </p:txBody>
      </p:sp>
    </p:spTree>
    <p:extLst>
      <p:ext uri="{BB962C8B-B14F-4D97-AF65-F5344CB8AC3E}">
        <p14:creationId xmlns:p14="http://schemas.microsoft.com/office/powerpoint/2010/main" val="416191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ite-background-fallback">
            <a:extLst xmlns:a="http://schemas.openxmlformats.org/drawingml/2006/main">
              <a:ext uri="{FF2B5EF4-FFF2-40B4-BE49-F238E27FC236}">
                <a16:creationId xmlns:a16="http://schemas.microsoft.com/office/drawing/2014/main" id="{76E8E012-CFAB-4132-B52D-8BA13757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C8195E22-A608-4B0F-804C-B3ACE8B5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8. Caracterizar los grupos</a:t>
            </a:r>
          </a:p>
        </p:txBody>
      </p:sp>
      <p:sp>
        <p:nvSpPr>
          <p:cNvPr id="3" name="s8-takeaway">
            <a:extLst xmlns:a="http://schemas.openxmlformats.org/drawingml/2006/main">
              <a:ext uri="{FF2B5EF4-FFF2-40B4-BE49-F238E27FC236}">
                <a16:creationId xmlns:a16="http://schemas.microsoft.com/office/drawing/2014/main" id="{2BBCC50D-54BD-44C2-8F93-C0E003D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Perfiles con variables originales.</a:t>
            </a:r>
          </a:p>
        </p:txBody>
      </p:sp>
      <p:sp>
        <p:nvSpPr>
          <p:cNvPr id="4" name="s8-left-head">
            <a:extLst xmlns:a="http://schemas.openxmlformats.org/drawingml/2006/main">
              <a:ext uri="{FF2B5EF4-FFF2-40B4-BE49-F238E27FC236}">
                <a16:creationId xmlns:a16="http://schemas.microsoft.com/office/drawing/2014/main" id="{9B3A46D7-DD5A-4E4B-A1C5-9D77246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Perfiles</a:t>
            </a:r>
          </a:p>
        </p:txBody>
      </p:sp>
      <p:sp>
        <p:nvSpPr>
          <p:cNvPr id="5" name="s8-left-body">
            <a:extLst xmlns:a="http://schemas.openxmlformats.org/drawingml/2006/main">
              <a:ext uri="{FF2B5EF4-FFF2-40B4-BE49-F238E27FC236}">
                <a16:creationId xmlns:a16="http://schemas.microsoft.com/office/drawing/2014/main" id="{E6FD9985-78E1-410C-9993-3FEF12E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Variables originales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Medianas y proporciones</a:t>
            </a:r>
          </a:p>
        </p:txBody>
      </p:sp>
      <p:sp>
        <p:nvSpPr>
          <p:cNvPr id="6" name="s8-right-head">
            <a:extLst xmlns:a="http://schemas.openxmlformats.org/drawingml/2006/main">
              <a:ext uri="{FF2B5EF4-FFF2-40B4-BE49-F238E27FC236}">
                <a16:creationId xmlns:a16="http://schemas.microsoft.com/office/drawing/2014/main" id="{77C98DF5-3E6E-479E-B7F4-889D5A3B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Segmento crítico</a:t>
            </a:r>
          </a:p>
        </p:txBody>
      </p:sp>
      <p:sp>
        <p:nvSpPr>
          <p:cNvPr id="7" name="s8-right-body">
            <a:extLst xmlns:a="http://schemas.openxmlformats.org/drawingml/2006/main">
              <a:ext uri="{FF2B5EF4-FFF2-40B4-BE49-F238E27FC236}">
                <a16:creationId xmlns:a16="http://schemas.microsoft.com/office/drawing/2014/main" id="{0D7B2877-9B19-44FA-B776-3BFA2602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Tamaños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Denominadores</a:t>
            </a:r>
          </a:p>
        </p:txBody>
      </p:sp>
      <p:sp>
        <p:nvSpPr>
          <p:cNvPr id="8" name="fallback-brand">
            <a:extLst xmlns:a="http://schemas.openxmlformats.org/drawingml/2006/main">
              <a:ext uri="{FF2B5EF4-FFF2-40B4-BE49-F238E27FC236}">
                <a16:creationId xmlns:a16="http://schemas.microsoft.com/office/drawing/2014/main" id="{217D153D-F296-4CC9-8E4A-122CCE3C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38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89E"/>
                </a:solidFill>
              </a:defRPr>
            </a:pPr>
            <a:r>
              <a:rPr sz="975" b="1">
                <a:solidFill>
                  <a:srgbClr val="8A989E"/>
                </a:solidFill>
              </a:rPr>
              <a:t>INGENIERÍA INDUSTRIAL</a:t>
            </a:r>
          </a:p>
          <a:p xmlns:a="http://schemas.openxmlformats.org/drawingml/2006/main">
            <a:pPr algn="r">
              <a:defRPr sz="975" b="1">
                <a:solidFill>
                  <a:srgbClr val="8A989E"/>
                </a:solidFill>
              </a:defRPr>
            </a:pPr>
            <a:r>
              <a:rPr sz="975" b="1">
                <a:solidFill>
                  <a:srgbClr val="8A989E"/>
                </a:solidFill>
              </a:rPr>
              <a:t>UNIVERSIDAD DE SANTIAGO DE CHILE</a:t>
            </a:r>
          </a:p>
        </p:txBody>
      </p:sp>
      <p:sp>
        <p:nvSpPr>
          <p:cNvPr id="9" name="fallback-hashtag">
            <a:extLst xmlns:a="http://schemas.openxmlformats.org/drawingml/2006/main">
              <a:ext uri="{FF2B5EF4-FFF2-40B4-BE49-F238E27FC236}">
                <a16:creationId xmlns:a16="http://schemas.microsoft.com/office/drawing/2014/main" id="{BAF66C76-83CF-47CF-98E8-E2F937D7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34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</a:defRPr>
            </a:pPr>
            <a:r>
              <a:rPr sz="1350" b="1">
                <a:solidFill>
                  <a:srgbClr val="00A6A6"/>
                </a:solidFill>
              </a:rPr>
              <a:t>#SOMOSUSACH</a:t>
            </a:r>
          </a:p>
        </p:txBody>
      </p:sp>
    </p:spTree>
    <p:extLst>
      <p:ext uri="{BB962C8B-B14F-4D97-AF65-F5344CB8AC3E}">
        <p14:creationId xmlns:p14="http://schemas.microsoft.com/office/powerpoint/2010/main" val="17878191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8b40b018147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3732A50F-5268-4FE0-95C5-07FB696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9. ¿Estructura real o artefacto?</a:t>
            </a:r>
          </a:p>
        </p:txBody>
      </p:sp>
      <p:sp>
        <p:nvSpPr>
          <p:cNvPr id="3" name="s9-takeaway">
            <a:extLst xmlns:a="http://schemas.openxmlformats.org/drawingml/2006/main">
              <a:ext uri="{FF2B5EF4-FFF2-40B4-BE49-F238E27FC236}">
                <a16:creationId xmlns:a16="http://schemas.microsoft.com/office/drawing/2014/main" id="{743B1798-5586-44B0-9274-00D610F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Interpretar con cautela.</a:t>
            </a:r>
          </a:p>
        </p:txBody>
      </p:sp>
      <p:sp>
        <p:nvSpPr>
          <p:cNvPr id="4" name="s9-left-head">
            <a:extLst xmlns:a="http://schemas.openxmlformats.org/drawingml/2006/main">
              <a:ext uri="{FF2B5EF4-FFF2-40B4-BE49-F238E27FC236}">
                <a16:creationId xmlns:a16="http://schemas.microsoft.com/office/drawing/2014/main" id="{5E42F31F-D420-4577-B127-3DDC125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Interpretación</a:t>
            </a:r>
          </a:p>
        </p:txBody>
      </p:sp>
      <p:sp>
        <p:nvSpPr>
          <p:cNvPr id="5" name="s9-left-body">
            <a:extLst xmlns:a="http://schemas.openxmlformats.org/drawingml/2006/main">
              <a:ext uri="{FF2B5EF4-FFF2-40B4-BE49-F238E27FC236}">
                <a16:creationId xmlns:a16="http://schemas.microsoft.com/office/drawing/2014/main" id="{A857B356-0428-46AA-9B0E-F3BE463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Coherencia con el dominio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Observaciones ambiguas</a:t>
            </a:r>
          </a:p>
        </p:txBody>
      </p:sp>
      <p:sp>
        <p:nvSpPr>
          <p:cNvPr id="6" name="s9-right-head">
            <a:extLst xmlns:a="http://schemas.openxmlformats.org/drawingml/2006/main">
              <a:ext uri="{FF2B5EF4-FFF2-40B4-BE49-F238E27FC236}">
                <a16:creationId xmlns:a16="http://schemas.microsoft.com/office/drawing/2014/main" id="{045B2D78-8F21-4AA6-B107-1C4542BA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Cautela</a:t>
            </a:r>
          </a:p>
        </p:txBody>
      </p:sp>
      <p:sp>
        <p:nvSpPr>
          <p:cNvPr id="7" name="s9-right-body">
            <a:extLst xmlns:a="http://schemas.openxmlformats.org/drawingml/2006/main">
              <a:ext uri="{FF2B5EF4-FFF2-40B4-BE49-F238E27FC236}">
                <a16:creationId xmlns:a16="http://schemas.microsoft.com/office/drawing/2014/main" id="{6D00B1AC-D1B4-40A8-B8D9-CB66B81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No causalidad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Sensibilidad a la distancia</a:t>
            </a:r>
          </a:p>
        </p:txBody>
      </p:sp>
    </p:spTree>
    <p:extLst>
      <p:ext uri="{BB962C8B-B14F-4D97-AF65-F5344CB8AC3E}">
        <p14:creationId xmlns:p14="http://schemas.microsoft.com/office/powerpoint/2010/main" val="12680920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5b98d402745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DB3F3908-F0CF-4D2E-A100-B0BB650E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10. Recomendación y monitoreo</a:t>
            </a:r>
          </a:p>
        </p:txBody>
      </p:sp>
      <p:sp>
        <p:nvSpPr>
          <p:cNvPr id="3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32F99502-E411-4BDB-BA26-271BC6D3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Decisión accionable con límites explícitos.</a:t>
            </a:r>
          </a:p>
        </p:txBody>
      </p:sp>
      <p:sp>
        <p:nvSpPr>
          <p:cNvPr id="4" name="s10-left-head">
            <a:extLst xmlns:a="http://schemas.openxmlformats.org/drawingml/2006/main">
              <a:ext uri="{FF2B5EF4-FFF2-40B4-BE49-F238E27FC236}">
                <a16:creationId xmlns:a16="http://schemas.microsoft.com/office/drawing/2014/main" id="{C8574F5B-0FAE-4794-B68C-F2192BFF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Recomendación</a:t>
            </a:r>
          </a:p>
        </p:txBody>
      </p:sp>
      <p:sp>
        <p:nvSpPr>
          <p:cNvPr id="5" name="s10-left-body">
            <a:extLst xmlns:a="http://schemas.openxmlformats.org/drawingml/2006/main">
              <a:ext uri="{FF2B5EF4-FFF2-40B4-BE49-F238E27FC236}">
                <a16:creationId xmlns:a16="http://schemas.microsoft.com/office/drawing/2014/main" id="{DE4E5F2C-FF96-47F9-91E7-F9CBBCC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Qué segmentación usar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 y límites</a:t>
            </a:r>
          </a:p>
        </p:txBody>
      </p:sp>
      <p:sp>
        <p:nvSpPr>
          <p:cNvPr id="6" name="s10-right-head">
            <a:extLst xmlns:a="http://schemas.openxmlformats.org/drawingml/2006/main">
              <a:ext uri="{FF2B5EF4-FFF2-40B4-BE49-F238E27FC236}">
                <a16:creationId xmlns:a16="http://schemas.microsoft.com/office/drawing/2014/main" id="{BA41FE7D-DD51-49A1-9645-B5E55264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Monitoreo</a:t>
            </a:r>
          </a:p>
        </p:txBody>
      </p:sp>
      <p:sp>
        <p:nvSpPr>
          <p:cNvPr id="7" name="s10-right-body">
            <a:extLst xmlns:a="http://schemas.openxmlformats.org/drawingml/2006/main">
              <a:ext uri="{FF2B5EF4-FFF2-40B4-BE49-F238E27FC236}">
                <a16:creationId xmlns:a16="http://schemas.microsoft.com/office/drawing/2014/main" id="{B56EFB41-7841-44DC-8724-5788501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Indicadores y drift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Cuándo recomputar</a:t>
            </a:r>
          </a:p>
        </p:txBody>
      </p:sp>
    </p:spTree>
    <p:extLst>
      <p:ext uri="{BB962C8B-B14F-4D97-AF65-F5344CB8AC3E}">
        <p14:creationId xmlns:p14="http://schemas.microsoft.com/office/powerpoint/2010/main" val="19445792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491530f654f3b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DEEB371-9658-46F0-8C7D-8F8F4DC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PREGUNTAS Y DEFENSA TÉCNICA</a:t>
            </a:r>
          </a:p>
        </p:txBody>
      </p:sp>
      <p:sp>
        <p:nvSpPr>
          <p:cNvPr id="3" name="closing-time">
            <a:extLst xmlns:a="http://schemas.openxmlformats.org/drawingml/2006/main">
              <a:ext uri="{FF2B5EF4-FFF2-40B4-BE49-F238E27FC236}">
                <a16:creationId xmlns:a16="http://schemas.microsoft.com/office/drawing/2014/main" id="{0F88E811-CF24-478B-8068-44AA5B8C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</a:rPr>
              <a:t>10 minutos   |   Todos los integrantes deben poder defender datos, código y decisiones</a:t>
            </a:r>
          </a:p>
        </p:txBody>
      </p:sp>
    </p:spTree>
    <p:extLst>
      <p:ext uri="{BB962C8B-B14F-4D97-AF65-F5344CB8AC3E}">
        <p14:creationId xmlns:p14="http://schemas.microsoft.com/office/powerpoint/2010/main" val="1204087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2026-07-12T17:37:15.8230000Z</dcterms:created>
  <dcterms:modified xsi:type="dcterms:W3CDTF">2026-07-12T17:37:15.8230000Z</dcterms:modified>
</coreProperties>
</file>